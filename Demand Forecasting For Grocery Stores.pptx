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58" r:id="rId4"/>
    <p:sldId id="260" r:id="rId5"/>
    <p:sldId id="259" r:id="rId6"/>
    <p:sldId id="263" r:id="rId7"/>
    <p:sldId id="267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>
      <p:cViewPr varScale="1">
        <p:scale>
          <a:sx n="73" d="100"/>
          <a:sy n="73" d="100"/>
        </p:scale>
        <p:origin x="69" y="3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ag Chikte" userId="debb20e052322e03" providerId="LiveId" clId="{2E59D24E-2077-4709-A860-CF4458296216}"/>
    <pc:docChg chg="undo custSel addSld delSld modSld">
      <pc:chgData name="Parag Chikte" userId="debb20e052322e03" providerId="LiveId" clId="{2E59D24E-2077-4709-A860-CF4458296216}" dt="2022-05-09T10:23:55.360" v="1557" actId="20577"/>
      <pc:docMkLst>
        <pc:docMk/>
      </pc:docMkLst>
      <pc:sldChg chg="modSp mod">
        <pc:chgData name="Parag Chikte" userId="debb20e052322e03" providerId="LiveId" clId="{2E59D24E-2077-4709-A860-CF4458296216}" dt="2022-05-09T09:51:43.509" v="277" actId="20577"/>
        <pc:sldMkLst>
          <pc:docMk/>
          <pc:sldMk cId="1772969468" sldId="257"/>
        </pc:sldMkLst>
        <pc:spChg chg="mod">
          <ac:chgData name="Parag Chikte" userId="debb20e052322e03" providerId="LiveId" clId="{2E59D24E-2077-4709-A860-CF4458296216}" dt="2022-05-09T09:51:43.509" v="277" actId="20577"/>
          <ac:spMkLst>
            <pc:docMk/>
            <pc:sldMk cId="1772969468" sldId="257"/>
            <ac:spMk id="3" creationId="{00000000-0000-0000-0000-000000000000}"/>
          </ac:spMkLst>
        </pc:spChg>
      </pc:sldChg>
      <pc:sldChg chg="addSp delSp modSp mod">
        <pc:chgData name="Parag Chikte" userId="debb20e052322e03" providerId="LiveId" clId="{2E59D24E-2077-4709-A860-CF4458296216}" dt="2022-05-09T09:56:20.264" v="445" actId="20577"/>
        <pc:sldMkLst>
          <pc:docMk/>
          <pc:sldMk cId="1928620899" sldId="258"/>
        </pc:sldMkLst>
        <pc:spChg chg="mod">
          <ac:chgData name="Parag Chikte" userId="debb20e052322e03" providerId="LiveId" clId="{2E59D24E-2077-4709-A860-CF4458296216}" dt="2022-05-09T09:53:33.799" v="321" actId="20577"/>
          <ac:spMkLst>
            <pc:docMk/>
            <pc:sldMk cId="1928620899" sldId="258"/>
            <ac:spMk id="2" creationId="{00000000-0000-0000-0000-000000000000}"/>
          </ac:spMkLst>
        </pc:spChg>
        <pc:spChg chg="add mod">
          <ac:chgData name="Parag Chikte" userId="debb20e052322e03" providerId="LiveId" clId="{2E59D24E-2077-4709-A860-CF4458296216}" dt="2022-05-09T09:56:20.264" v="445" actId="20577"/>
          <ac:spMkLst>
            <pc:docMk/>
            <pc:sldMk cId="1928620899" sldId="258"/>
            <ac:spMk id="4" creationId="{1FE1027F-3101-E9C9-A8E5-B6A634450139}"/>
          </ac:spMkLst>
        </pc:spChg>
        <pc:graphicFrameChg chg="del">
          <ac:chgData name="Parag Chikte" userId="debb20e052322e03" providerId="LiveId" clId="{2E59D24E-2077-4709-A860-CF4458296216}" dt="2022-05-09T09:54:26.203" v="322" actId="478"/>
          <ac:graphicFrameMkLst>
            <pc:docMk/>
            <pc:sldMk cId="1928620899" sldId="258"/>
            <ac:graphicFrameMk id="6" creationId="{00000000-0000-0000-0000-000000000000}"/>
          </ac:graphicFrameMkLst>
        </pc:graphicFrameChg>
      </pc:sldChg>
      <pc:sldChg chg="addSp delSp modSp mod">
        <pc:chgData name="Parag Chikte" userId="debb20e052322e03" providerId="LiveId" clId="{2E59D24E-2077-4709-A860-CF4458296216}" dt="2022-05-09T10:19:26.990" v="1320" actId="313"/>
        <pc:sldMkLst>
          <pc:docMk/>
          <pc:sldMk cId="3948826341" sldId="259"/>
        </pc:sldMkLst>
        <pc:spChg chg="mod">
          <ac:chgData name="Parag Chikte" userId="debb20e052322e03" providerId="LiveId" clId="{2E59D24E-2077-4709-A860-CF4458296216}" dt="2022-05-09T10:09:56.334" v="901" actId="20577"/>
          <ac:spMkLst>
            <pc:docMk/>
            <pc:sldMk cId="3948826341" sldId="259"/>
            <ac:spMk id="2" creationId="{00000000-0000-0000-0000-000000000000}"/>
          </ac:spMkLst>
        </pc:spChg>
        <pc:spChg chg="mod">
          <ac:chgData name="Parag Chikte" userId="debb20e052322e03" providerId="LiveId" clId="{2E59D24E-2077-4709-A860-CF4458296216}" dt="2022-05-09T10:19:26.990" v="1320" actId="313"/>
          <ac:spMkLst>
            <pc:docMk/>
            <pc:sldMk cId="3948826341" sldId="259"/>
            <ac:spMk id="3" creationId="{00000000-0000-0000-0000-000000000000}"/>
          </ac:spMkLst>
        </pc:spChg>
        <pc:spChg chg="add del mod">
          <ac:chgData name="Parag Chikte" userId="debb20e052322e03" providerId="LiveId" clId="{2E59D24E-2077-4709-A860-CF4458296216}" dt="2022-05-09T10:08:27.792" v="799" actId="22"/>
          <ac:spMkLst>
            <pc:docMk/>
            <pc:sldMk cId="3948826341" sldId="259"/>
            <ac:spMk id="5" creationId="{56C024D2-140D-8DBB-E635-EC0ACEDA49AB}"/>
          </ac:spMkLst>
        </pc:spChg>
        <pc:graphicFrameChg chg="del mod">
          <ac:chgData name="Parag Chikte" userId="debb20e052322e03" providerId="LiveId" clId="{2E59D24E-2077-4709-A860-CF4458296216}" dt="2022-05-09T10:08:17.879" v="796" actId="478"/>
          <ac:graphicFrameMkLst>
            <pc:docMk/>
            <pc:sldMk cId="3948826341" sldId="259"/>
            <ac:graphicFrameMk id="7" creationId="{00000000-0000-0000-0000-000000000000}"/>
          </ac:graphicFrameMkLst>
        </pc:graphicFrameChg>
        <pc:picChg chg="add mod ord">
          <ac:chgData name="Parag Chikte" userId="debb20e052322e03" providerId="LiveId" clId="{2E59D24E-2077-4709-A860-CF4458296216}" dt="2022-05-09T10:17:12.988" v="1251" actId="1076"/>
          <ac:picMkLst>
            <pc:docMk/>
            <pc:sldMk cId="3948826341" sldId="259"/>
            <ac:picMk id="8" creationId="{0632DD3F-C0A2-FBBE-9258-D84F0EAABA80}"/>
          </ac:picMkLst>
        </pc:picChg>
        <pc:picChg chg="add mod">
          <ac:chgData name="Parag Chikte" userId="debb20e052322e03" providerId="LiveId" clId="{2E59D24E-2077-4709-A860-CF4458296216}" dt="2022-05-09T10:18:26.614" v="1260" actId="1036"/>
          <ac:picMkLst>
            <pc:docMk/>
            <pc:sldMk cId="3948826341" sldId="259"/>
            <ac:picMk id="10" creationId="{91D1320D-0D0E-2517-54AA-E2DF06A25564}"/>
          </ac:picMkLst>
        </pc:picChg>
      </pc:sldChg>
      <pc:sldChg chg="modSp mod">
        <pc:chgData name="Parag Chikte" userId="debb20e052322e03" providerId="LiveId" clId="{2E59D24E-2077-4709-A860-CF4458296216}" dt="2022-05-09T10:07:01.992" v="778" actId="20577"/>
        <pc:sldMkLst>
          <pc:docMk/>
          <pc:sldMk cId="2738627701" sldId="260"/>
        </pc:sldMkLst>
        <pc:spChg chg="mod">
          <ac:chgData name="Parag Chikte" userId="debb20e052322e03" providerId="LiveId" clId="{2E59D24E-2077-4709-A860-CF4458296216}" dt="2022-05-09T09:56:38.618" v="468" actId="20577"/>
          <ac:spMkLst>
            <pc:docMk/>
            <pc:sldMk cId="2738627701" sldId="260"/>
            <ac:spMk id="2" creationId="{00000000-0000-0000-0000-000000000000}"/>
          </ac:spMkLst>
        </pc:spChg>
        <pc:spChg chg="mod">
          <ac:chgData name="Parag Chikte" userId="debb20e052322e03" providerId="LiveId" clId="{2E59D24E-2077-4709-A860-CF4458296216}" dt="2022-05-09T10:07:01.992" v="778" actId="20577"/>
          <ac:spMkLst>
            <pc:docMk/>
            <pc:sldMk cId="2738627701" sldId="260"/>
            <ac:spMk id="3" creationId="{00000000-0000-0000-0000-000000000000}"/>
          </ac:spMkLst>
        </pc:spChg>
        <pc:graphicFrameChg chg="mod modGraphic">
          <ac:chgData name="Parag Chikte" userId="debb20e052322e03" providerId="LiveId" clId="{2E59D24E-2077-4709-A860-CF4458296216}" dt="2022-05-09T10:01:38.756" v="532" actId="1076"/>
          <ac:graphicFrameMkLst>
            <pc:docMk/>
            <pc:sldMk cId="2738627701" sldId="260"/>
            <ac:graphicFrameMk id="5" creationId="{00000000-0000-0000-0000-000000000000}"/>
          </ac:graphicFrameMkLst>
        </pc:graphicFrameChg>
      </pc:sldChg>
      <pc:sldChg chg="del">
        <pc:chgData name="Parag Chikte" userId="debb20e052322e03" providerId="LiveId" clId="{2E59D24E-2077-4709-A860-CF4458296216}" dt="2022-05-09T10:10:06.937" v="902" actId="47"/>
        <pc:sldMkLst>
          <pc:docMk/>
          <pc:sldMk cId="3537718460" sldId="261"/>
        </pc:sldMkLst>
      </pc:sldChg>
      <pc:sldChg chg="del">
        <pc:chgData name="Parag Chikte" userId="debb20e052322e03" providerId="LiveId" clId="{2E59D24E-2077-4709-A860-CF4458296216}" dt="2022-05-09T10:10:25.700" v="903" actId="47"/>
        <pc:sldMkLst>
          <pc:docMk/>
          <pc:sldMk cId="2637673684" sldId="262"/>
        </pc:sldMkLst>
      </pc:sldChg>
      <pc:sldChg chg="addSp modSp mod">
        <pc:chgData name="Parag Chikte" userId="debb20e052322e03" providerId="LiveId" clId="{2E59D24E-2077-4709-A860-CF4458296216}" dt="2022-05-09T10:15:22.860" v="1128" actId="20577"/>
        <pc:sldMkLst>
          <pc:docMk/>
          <pc:sldMk cId="547100618" sldId="263"/>
        </pc:sldMkLst>
        <pc:spChg chg="mod">
          <ac:chgData name="Parag Chikte" userId="debb20e052322e03" providerId="LiveId" clId="{2E59D24E-2077-4709-A860-CF4458296216}" dt="2022-05-09T10:10:34.798" v="913" actId="20577"/>
          <ac:spMkLst>
            <pc:docMk/>
            <pc:sldMk cId="547100618" sldId="263"/>
            <ac:spMk id="2" creationId="{00000000-0000-0000-0000-000000000000}"/>
          </ac:spMkLst>
        </pc:spChg>
        <pc:spChg chg="add mod">
          <ac:chgData name="Parag Chikte" userId="debb20e052322e03" providerId="LiveId" clId="{2E59D24E-2077-4709-A860-CF4458296216}" dt="2022-05-09T10:15:22.860" v="1128" actId="20577"/>
          <ac:spMkLst>
            <pc:docMk/>
            <pc:sldMk cId="547100618" sldId="263"/>
            <ac:spMk id="3" creationId="{C3B94D43-D55F-80B0-D5FC-8C87791ECA89}"/>
          </ac:spMkLst>
        </pc:spChg>
      </pc:sldChg>
      <pc:sldChg chg="del">
        <pc:chgData name="Parag Chikte" userId="debb20e052322e03" providerId="LiveId" clId="{2E59D24E-2077-4709-A860-CF4458296216}" dt="2022-05-09T10:22:49.937" v="1529" actId="47"/>
        <pc:sldMkLst>
          <pc:docMk/>
          <pc:sldMk cId="1001865620" sldId="264"/>
        </pc:sldMkLst>
      </pc:sldChg>
      <pc:sldChg chg="del">
        <pc:chgData name="Parag Chikte" userId="debb20e052322e03" providerId="LiveId" clId="{2E59D24E-2077-4709-A860-CF4458296216}" dt="2022-05-09T10:22:49.937" v="1529" actId="47"/>
        <pc:sldMkLst>
          <pc:docMk/>
          <pc:sldMk cId="2914748422" sldId="265"/>
        </pc:sldMkLst>
      </pc:sldChg>
      <pc:sldChg chg="delSp modSp del mod">
        <pc:chgData name="Parag Chikte" userId="debb20e052322e03" providerId="LiveId" clId="{2E59D24E-2077-4709-A860-CF4458296216}" dt="2022-05-09T10:23:39.996" v="1541" actId="47"/>
        <pc:sldMkLst>
          <pc:docMk/>
          <pc:sldMk cId="3049232890" sldId="266"/>
        </pc:sldMkLst>
        <pc:spChg chg="mod">
          <ac:chgData name="Parag Chikte" userId="debb20e052322e03" providerId="LiveId" clId="{2E59D24E-2077-4709-A860-CF4458296216}" dt="2022-05-09T10:23:02.364" v="1539" actId="20577"/>
          <ac:spMkLst>
            <pc:docMk/>
            <pc:sldMk cId="3049232890" sldId="266"/>
            <ac:spMk id="2" creationId="{00000000-0000-0000-0000-000000000000}"/>
          </ac:spMkLst>
        </pc:spChg>
        <pc:spChg chg="del">
          <ac:chgData name="Parag Chikte" userId="debb20e052322e03" providerId="LiveId" clId="{2E59D24E-2077-4709-A860-CF4458296216}" dt="2022-05-09T10:22:57.816" v="1530" actId="478"/>
          <ac:spMkLst>
            <pc:docMk/>
            <pc:sldMk cId="3049232890" sldId="266"/>
            <ac:spMk id="4" creationId="{00000000-0000-0000-0000-000000000000}"/>
          </ac:spMkLst>
        </pc:spChg>
      </pc:sldChg>
      <pc:sldChg chg="modSp add mod">
        <pc:chgData name="Parag Chikte" userId="debb20e052322e03" providerId="LiveId" clId="{2E59D24E-2077-4709-A860-CF4458296216}" dt="2022-05-09T10:22:42.297" v="1528" actId="5793"/>
        <pc:sldMkLst>
          <pc:docMk/>
          <pc:sldMk cId="1478553394" sldId="267"/>
        </pc:sldMkLst>
        <pc:spChg chg="mod">
          <ac:chgData name="Parag Chikte" userId="debb20e052322e03" providerId="LiveId" clId="{2E59D24E-2077-4709-A860-CF4458296216}" dt="2022-05-09T10:20:07.218" v="1334" actId="20577"/>
          <ac:spMkLst>
            <pc:docMk/>
            <pc:sldMk cId="1478553394" sldId="267"/>
            <ac:spMk id="2" creationId="{00000000-0000-0000-0000-000000000000}"/>
          </ac:spMkLst>
        </pc:spChg>
        <pc:spChg chg="mod">
          <ac:chgData name="Parag Chikte" userId="debb20e052322e03" providerId="LiveId" clId="{2E59D24E-2077-4709-A860-CF4458296216}" dt="2022-05-09T10:22:42.297" v="1528" actId="5793"/>
          <ac:spMkLst>
            <pc:docMk/>
            <pc:sldMk cId="1478553394" sldId="267"/>
            <ac:spMk id="3" creationId="{C3B94D43-D55F-80B0-D5FC-8C87791ECA89}"/>
          </ac:spMkLst>
        </pc:spChg>
      </pc:sldChg>
      <pc:sldChg chg="delSp modSp add mod">
        <pc:chgData name="Parag Chikte" userId="debb20e052322e03" providerId="LiveId" clId="{2E59D24E-2077-4709-A860-CF4458296216}" dt="2022-05-09T10:23:55.360" v="1557" actId="20577"/>
        <pc:sldMkLst>
          <pc:docMk/>
          <pc:sldMk cId="696587824" sldId="268"/>
        </pc:sldMkLst>
        <pc:spChg chg="mod">
          <ac:chgData name="Parag Chikte" userId="debb20e052322e03" providerId="LiveId" clId="{2E59D24E-2077-4709-A860-CF4458296216}" dt="2022-05-09T10:23:55.360" v="1557" actId="20577"/>
          <ac:spMkLst>
            <pc:docMk/>
            <pc:sldMk cId="696587824" sldId="268"/>
            <ac:spMk id="2" creationId="{00000000-0000-0000-0000-000000000000}"/>
          </ac:spMkLst>
        </pc:spChg>
        <pc:spChg chg="del mod">
          <ac:chgData name="Parag Chikte" userId="debb20e052322e03" providerId="LiveId" clId="{2E59D24E-2077-4709-A860-CF4458296216}" dt="2022-05-09T10:23:48.429" v="1544" actId="478"/>
          <ac:spMkLst>
            <pc:docMk/>
            <pc:sldMk cId="696587824" sldId="268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3B725B-653D-4166-A8E9-72A38A1847CF}" type="datetimeFigureOut">
              <a:rPr lang="en-US"/>
              <a:t>5/9/2022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61E8E-D392-497B-BB21-122DD7C27CF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8353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F64CD-0576-4A9A-BD06-7889D6E60BDC}" type="datetimeFigureOut">
              <a:rPr lang="en-US"/>
              <a:t>5/9/2022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55D449-B875-4B8D-8E66-224D27E54C9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9979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81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6225" y="1828800"/>
            <a:ext cx="4098175" cy="317738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225" y="5181600"/>
            <a:ext cx="4098175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7" name="Picture 6" descr="EKG line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8688" y="-1"/>
            <a:ext cx="7000137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5/9/2022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7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Rectangle"/>
          <p:cNvSpPr/>
          <p:nvPr/>
        </p:nvSpPr>
        <p:spPr>
          <a:xfrm>
            <a:off x="265112" y="228600"/>
            <a:ext cx="116586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828800"/>
            <a:ext cx="7772400" cy="317738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5181600"/>
            <a:ext cx="7772400" cy="685800"/>
          </a:xfrm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825624"/>
            <a:ext cx="4800600" cy="4575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4"/>
            <a:ext cx="4800600" cy="4575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5/9/2022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828799"/>
            <a:ext cx="4800600" cy="762000"/>
          </a:xfrm>
        </p:spPr>
        <p:txBody>
          <a:bodyPr anchor="ctr">
            <a:noAutofit/>
          </a:bodyPr>
          <a:lstStyle>
            <a:lvl1pPr marL="0" indent="0"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6800" y="2590799"/>
            <a:ext cx="4800600" cy="38100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28799"/>
            <a:ext cx="4800600" cy="762000"/>
          </a:xfrm>
        </p:spPr>
        <p:txBody>
          <a:bodyPr anchor="ctr">
            <a:noAutofit/>
          </a:bodyPr>
          <a:lstStyle>
            <a:lvl1pPr marL="0" indent="0"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90799"/>
            <a:ext cx="4800600" cy="38100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5/9/2022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5/9/2022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5/9/2022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descr="Rectangle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 descr="Rectangle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2700" y="3200400"/>
            <a:ext cx="3932237" cy="1752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57201"/>
            <a:ext cx="5943600" cy="5943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2699" y="5029200"/>
            <a:ext cx="3932237" cy="13716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descr="Rectangle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 descr="Rectangle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5240" y="3200400"/>
            <a:ext cx="3932237" cy="1752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" y="0"/>
            <a:ext cx="7008810" cy="6857999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5240" y="5029200"/>
            <a:ext cx="3932237" cy="137464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5/9/2022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Rectangle"/>
          <p:cNvSpPr/>
          <p:nvPr/>
        </p:nvSpPr>
        <p:spPr>
          <a:xfrm>
            <a:off x="9982200" y="0"/>
            <a:ext cx="22098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58399" y="457201"/>
            <a:ext cx="2057401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9067800" cy="5943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5/9/2022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d bar" descr="Red bar"/>
          <p:cNvSpPr/>
          <p:nvPr/>
        </p:nvSpPr>
        <p:spPr>
          <a:xfrm>
            <a:off x="1" y="1"/>
            <a:ext cx="12188824" cy="1524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99220"/>
            <a:ext cx="10058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799"/>
            <a:ext cx="9144000" cy="4572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481760"/>
            <a:ext cx="78486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67800" y="6465885"/>
            <a:ext cx="10668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5/9/2022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481760"/>
            <a:ext cx="8382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68680" indent="-182563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5156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3444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41732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60020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8308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5240" y="3200400"/>
            <a:ext cx="3932237" cy="1752600"/>
          </a:xfrm>
        </p:spPr>
        <p:txBody>
          <a:bodyPr anchor="b">
            <a:normAutofit/>
          </a:bodyPr>
          <a:lstStyle/>
          <a:p>
            <a:r>
              <a:rPr lang="en-US" sz="2800" b="0" i="0">
                <a:effectLst/>
              </a:rPr>
              <a:t>Demand Forecasting For Grocery Stores</a:t>
            </a:r>
            <a:br>
              <a:rPr lang="en-US" sz="2800"/>
            </a:br>
            <a:r>
              <a:rPr lang="en-US" sz="2800" b="0" i="0">
                <a:effectLst/>
              </a:rPr>
              <a:t>Using Deep Learning Methodologies</a:t>
            </a:r>
            <a:endParaRPr lang="en-US" sz="2800"/>
          </a:p>
        </p:txBody>
      </p:sp>
      <p:pic>
        <p:nvPicPr>
          <p:cNvPr id="5" name="Picture 4" descr="Vegetables and fruits in a row">
            <a:extLst>
              <a:ext uri="{FF2B5EF4-FFF2-40B4-BE49-F238E27FC236}">
                <a16:creationId xmlns:a16="http://schemas.microsoft.com/office/drawing/2014/main" id="{54818A9E-3AB4-4AEB-044C-9A39FC237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75" r="25906" b="-1"/>
          <a:stretch/>
        </p:blipFill>
        <p:spPr>
          <a:xfrm>
            <a:off x="1" y="10"/>
            <a:ext cx="7008810" cy="6857989"/>
          </a:xfrm>
          <a:prstGeom prst="rect">
            <a:avLst/>
          </a:prstGeom>
          <a:noFill/>
        </p:spPr>
      </p:pic>
      <p:sp>
        <p:nvSpPr>
          <p:cNvPr id="3" name="Subtitle 2"/>
          <p:cNvSpPr>
            <a:spLocks noGrp="1"/>
          </p:cNvSpPr>
          <p:nvPr>
            <p:ph type="body" sz="half" idx="2"/>
          </p:nvPr>
        </p:nvSpPr>
        <p:spPr>
          <a:xfrm>
            <a:off x="7635240" y="5029200"/>
            <a:ext cx="3932237" cy="1374648"/>
          </a:xfrm>
        </p:spPr>
        <p:txBody>
          <a:bodyPr>
            <a:normAutofit/>
          </a:bodyPr>
          <a:lstStyle/>
          <a:p>
            <a:r>
              <a:rPr lang="en-US" b="0" i="0">
                <a:effectLst/>
              </a:rPr>
              <a:t>Data Mining and Machine Learning II</a:t>
            </a:r>
          </a:p>
          <a:p>
            <a:br>
              <a:rPr lang="en-US" dirty="0"/>
            </a:br>
            <a:r>
              <a:rPr lang="en-US" b="0" i="0">
                <a:effectLst/>
              </a:rPr>
              <a:t>Data Analytics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14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Forecasting of real-time products in various supermarket groceries chains.</a:t>
            </a:r>
          </a:p>
          <a:p>
            <a:r>
              <a:rPr lang="en-US" dirty="0"/>
              <a:t>Helps stores to fill-up their stocks according to predicted sales.</a:t>
            </a:r>
          </a:p>
          <a:p>
            <a:r>
              <a:rPr lang="en-US" dirty="0"/>
              <a:t>Helps store to set some discounts or offers on specific food items.</a:t>
            </a:r>
          </a:p>
          <a:p>
            <a:r>
              <a:rPr lang="en-US" dirty="0"/>
              <a:t>We have used historical data to find out future sales. </a:t>
            </a:r>
          </a:p>
        </p:txBody>
      </p:sp>
    </p:spTree>
    <p:extLst>
      <p:ext uri="{BB962C8B-B14F-4D97-AF65-F5344CB8AC3E}">
        <p14:creationId xmlns:p14="http://schemas.microsoft.com/office/powerpoint/2010/main" val="1772969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E1027F-3101-E9C9-A8E5-B6A634450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have used following Time series and deep learning methods for this research :</a:t>
            </a:r>
          </a:p>
          <a:p>
            <a:pPr marL="514350" indent="-514350">
              <a:buFont typeface="+mj-lt"/>
              <a:buAutoNum type="romanLcPeriod"/>
            </a:pPr>
            <a:r>
              <a:rPr lang="en-IN" dirty="0"/>
              <a:t>Fb-Prophet model</a:t>
            </a:r>
            <a:endParaRPr lang="en-US" dirty="0"/>
          </a:p>
          <a:p>
            <a:pPr marL="514350" indent="-514350">
              <a:buFont typeface="+mj-lt"/>
              <a:buAutoNum type="romanLcPeriod"/>
            </a:pPr>
            <a:r>
              <a:rPr lang="en-IN" dirty="0"/>
              <a:t>Holt - Winter’s model</a:t>
            </a:r>
            <a:endParaRPr lang="en-US" dirty="0"/>
          </a:p>
          <a:p>
            <a:pPr marL="514350" indent="-514350">
              <a:buFont typeface="+mj-lt"/>
              <a:buAutoNum type="romanLcPeriod"/>
            </a:pPr>
            <a:r>
              <a:rPr lang="en-IN" dirty="0"/>
              <a:t>LSTM model </a:t>
            </a:r>
            <a:endParaRPr lang="en-US" dirty="0"/>
          </a:p>
          <a:p>
            <a:pPr marL="514350" indent="-514350">
              <a:buFont typeface="+mj-lt"/>
              <a:buAutoNum type="romanLcPeriod"/>
            </a:pPr>
            <a:r>
              <a:rPr lang="en-IN" dirty="0"/>
              <a:t>ARIMA model</a:t>
            </a:r>
            <a:endParaRPr lang="en-US" dirty="0"/>
          </a:p>
          <a:p>
            <a:pPr marL="514350" indent="-514350">
              <a:buFont typeface="+mj-lt"/>
              <a:buAutoNum type="romanLcPeriod"/>
            </a:pPr>
            <a:r>
              <a:rPr lang="en-IN" dirty="0"/>
              <a:t>Linear Regression model</a:t>
            </a:r>
            <a:endParaRPr lang="en-US" dirty="0"/>
          </a:p>
          <a:p>
            <a:pPr marL="514350" indent="-514350">
              <a:buFont typeface="+mj-lt"/>
              <a:buAutoNum type="romanLcPeriod"/>
            </a:pPr>
            <a:r>
              <a:rPr lang="en-IN" dirty="0"/>
              <a:t>Simple Moving Average </a:t>
            </a:r>
            <a:endParaRPr lang="en-US" dirty="0"/>
          </a:p>
          <a:p>
            <a:pPr marL="514350" indent="-514350">
              <a:buFont typeface="+mj-lt"/>
              <a:buAutoNum type="romanLcPeriod"/>
            </a:pPr>
            <a:r>
              <a:rPr lang="en-IN" dirty="0"/>
              <a:t>Naive Bayes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620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If we look at the results table, we have RMSE value which tells us how the predicted data is away from the value expected. </a:t>
            </a:r>
          </a:p>
          <a:p>
            <a:r>
              <a:rPr lang="en-US" dirty="0"/>
              <a:t>We can clearly say that Fb-Prophet Model is best fit among others.</a:t>
            </a:r>
          </a:p>
          <a:p>
            <a:r>
              <a:rPr lang="en-US" dirty="0"/>
              <a:t>Average Moving &amp; LSTM also worked good on our dataset.</a:t>
            </a:r>
          </a:p>
          <a:p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44220548"/>
              </p:ext>
            </p:extLst>
          </p:nvPr>
        </p:nvGraphicFramePr>
        <p:xfrm>
          <a:off x="7536160" y="1266028"/>
          <a:ext cx="3200400" cy="548957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2294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Model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RMSE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229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Fb-Prophet Model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241.53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29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ARIMA Model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284.02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229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Holt’s Model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298.98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229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Linear Regression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329.07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6994371"/>
                  </a:ext>
                </a:extLst>
              </a:tr>
              <a:tr h="57229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Simple Moving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337.51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337981"/>
                  </a:ext>
                </a:extLst>
              </a:tr>
              <a:tr h="57229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Average Moving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242.47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8868876"/>
                  </a:ext>
                </a:extLst>
              </a:tr>
              <a:tr h="57229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LSTM Method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245.04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5443904"/>
                  </a:ext>
                </a:extLst>
              </a:tr>
              <a:tr h="57229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Naive Bayes Method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329.13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1299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862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E8EAED"/>
                </a:solidFill>
                <a:latin typeface="arial" panose="020B0604020202020204" pitchFamily="34" charset="0"/>
              </a:rPr>
              <a:t>C</a:t>
            </a:r>
            <a:r>
              <a:rPr lang="en-IN" b="0" i="0" dirty="0">
                <a:solidFill>
                  <a:srgbClr val="E8EAED"/>
                </a:solidFill>
                <a:effectLst/>
                <a:latin typeface="arial" panose="020B0604020202020204" pitchFamily="34" charset="0"/>
              </a:rPr>
              <a:t>ontinued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first figure, you can see all models were compared with each other in graphical format. </a:t>
            </a:r>
          </a:p>
          <a:p>
            <a:r>
              <a:rPr lang="en-US" dirty="0"/>
              <a:t>Fb-Prophet model had helped us to forecast trend which followed daily, weekly and yearly manner.</a:t>
            </a:r>
          </a:p>
          <a:p>
            <a:r>
              <a:rPr lang="en-US" dirty="0"/>
              <a:t>Second figure describes the lower and highest range of the sales prediction of product ‘Chicken Tikka’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632DD3F-C0A2-FBBE-9258-D84F0EAABA8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72064" y="260648"/>
            <a:ext cx="4800600" cy="3524491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D1320D-0D0E-2517-54AA-E2DF06A25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064" y="3917682"/>
            <a:ext cx="4800600" cy="289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826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C3B94D43-D55F-80B0-D5FC-8C87791ECA89}"/>
              </a:ext>
            </a:extLst>
          </p:cNvPr>
          <p:cNvSpPr txBox="1">
            <a:spLocks/>
          </p:cNvSpPr>
          <p:nvPr/>
        </p:nvSpPr>
        <p:spPr>
          <a:xfrm>
            <a:off x="1524000" y="1828799"/>
            <a:ext cx="9144000" cy="45720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68680" indent="-182563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5156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344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173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8308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Prediction were done on products of different supermarket stores like ALDI, TESCO, LIDL.</a:t>
            </a:r>
          </a:p>
          <a:p>
            <a:r>
              <a:rPr lang="en-US" dirty="0"/>
              <a:t>Deep learning and time series methods were applied on dataset.</a:t>
            </a:r>
          </a:p>
          <a:p>
            <a:r>
              <a:rPr lang="en-US" dirty="0"/>
              <a:t>Best method selected using RMSE value</a:t>
            </a:r>
          </a:p>
          <a:p>
            <a:r>
              <a:rPr lang="en-US" dirty="0"/>
              <a:t>Best algorithm : </a:t>
            </a:r>
            <a:r>
              <a:rPr lang="en-IN" dirty="0"/>
              <a:t>Fb-Prophet Model</a:t>
            </a:r>
            <a:r>
              <a:rPr lang="en-US" dirty="0"/>
              <a:t> (RMSE value: </a:t>
            </a:r>
            <a:r>
              <a:rPr lang="en-IN" dirty="0"/>
              <a:t>241.53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4710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C3B94D43-D55F-80B0-D5FC-8C87791ECA89}"/>
              </a:ext>
            </a:extLst>
          </p:cNvPr>
          <p:cNvSpPr txBox="1">
            <a:spLocks/>
          </p:cNvSpPr>
          <p:nvPr/>
        </p:nvSpPr>
        <p:spPr>
          <a:xfrm>
            <a:off x="1524000" y="1828799"/>
            <a:ext cx="9144000" cy="45720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68680" indent="-182563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5156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344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173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8308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 future, some methods like </a:t>
            </a:r>
            <a:r>
              <a:rPr lang="en-IN" dirty="0"/>
              <a:t>Gradient Boosting can be used. When we combine this with previous models, this will help to reduce overall prediction error.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855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828800"/>
            <a:ext cx="7772400" cy="3177380"/>
          </a:xfrm>
        </p:spPr>
        <p:txBody>
          <a:bodyPr anchor="b">
            <a:normAutofit/>
          </a:bodyPr>
          <a:lstStyle/>
          <a:p>
            <a:r>
              <a:rPr lang="en-US" b="0" i="0">
                <a:effectLst/>
              </a:rPr>
              <a:t>Thank You !!!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587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edical Design 16x9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41.potx" id="{D7485564-6666-4DDB-B0D3-55F6E694D6E5}" vid="{6E950D30-6FC6-4411-BCFF-468AD9ECA787}"/>
    </a:ext>
  </a:extLst>
</a:theme>
</file>

<file path=ppt/theme/theme2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Medical design presentation (widescreen)</Template>
  <TotalTime>43</TotalTime>
  <Words>311</Words>
  <Application>Microsoft Office PowerPoint</Application>
  <PresentationFormat>Widescreen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</vt:lpstr>
      <vt:lpstr>Franklin Gothic Medium</vt:lpstr>
      <vt:lpstr>Medical Design 16x9</vt:lpstr>
      <vt:lpstr>Demand Forecasting For Grocery Stores Using Deep Learning Methodologies</vt:lpstr>
      <vt:lpstr>Introduction</vt:lpstr>
      <vt:lpstr>Methodology </vt:lpstr>
      <vt:lpstr>Results</vt:lpstr>
      <vt:lpstr>Continued</vt:lpstr>
      <vt:lpstr>Conclusion</vt:lpstr>
      <vt:lpstr>Future Work</vt:lpstr>
      <vt:lpstr>Thank You 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Demand Forecasting For Grocery Stores Using Deep Learning Methodologies</dc:title>
  <dc:creator>Parag Chikte</dc:creator>
  <cp:lastModifiedBy>Joshma Joseph</cp:lastModifiedBy>
  <cp:revision>3</cp:revision>
  <dcterms:created xsi:type="dcterms:W3CDTF">2022-05-08T23:59:09Z</dcterms:created>
  <dcterms:modified xsi:type="dcterms:W3CDTF">2022-05-09T10:29:50Z</dcterms:modified>
</cp:coreProperties>
</file>